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oilier_su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0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0840" y="0"/>
            <a:ext cx="162000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720840" cy="125999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pf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251999"/>
            <a:ext cx="1152000" cy="39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000" y="1368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Station météo
et Métadonnées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2592000"/>
            <a:ext cx="3600000" cy="432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270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96A0"/>
                </a:solidFill>
              </a:rPr>
              <a:t>Projet Sailowtech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3384000"/>
            <a:ext cx="86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C8DC"/>
                </a:solidFill>
              </a:rPr>
              <a:t>Guilhem Destriau  ·  Romain Corbel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3671999"/>
            <a:ext cx="86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6AFC8"/>
                </a:solidFill>
              </a:rPr>
              <a:t>Superviseur : Eric Boillat  —  LMTM, EPFL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3960000"/>
            <a:ext cx="86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29BB4"/>
                </a:solidFill>
              </a:rPr>
              <a:t>ME-401  —  Lausanne,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" y="1044000"/>
            <a:ext cx="576000" cy="43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1098000"/>
            <a:ext cx="57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" y="1116000"/>
            <a:ext cx="90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</a:rPr>
              <a:t>Contexte : le projet Sailowtech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1566000"/>
            <a:ext cx="576000" cy="43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1620000"/>
            <a:ext cx="57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" y="1638000"/>
            <a:ext cx="90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</a:rPr>
              <a:t>Objectifs du projet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2088000"/>
            <a:ext cx="576000" cy="43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2142000"/>
            <a:ext cx="57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000" y="2160000"/>
            <a:ext cx="90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</a:rPr>
              <a:t>Design mécanique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" y="2610000"/>
            <a:ext cx="576000" cy="43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" y="2664000"/>
            <a:ext cx="57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000" y="2682000"/>
            <a:ext cx="90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</a:rPr>
              <a:t>Conception électronique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3132000"/>
            <a:ext cx="576000" cy="43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000" y="3186000"/>
            <a:ext cx="57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000" y="3204000"/>
            <a:ext cx="90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</a:rPr>
              <a:t>Vision par ordinateur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000" y="3654000"/>
            <a:ext cx="576000" cy="43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000" y="3708000"/>
            <a:ext cx="576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000" y="3726000"/>
            <a:ext cx="90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</a:rPr>
              <a:t>Résultats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Contexte : le projet Sailowtech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07999"/>
            <a:ext cx="648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1E1E1E"/>
                </a:solidFill>
              </a:rPr>
              <a:t>• Projet MAKE de l'EPFL — association fondée sur l'open-source et le low-tech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E1E1E"/>
                </a:solidFill>
              </a:rPr>
              <a:t>• Expéditions scientifiques à la voile : lacs, mers et océans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E1E1E"/>
                </a:solidFill>
              </a:rPr>
              <a:t>• Objectif : transformer des voiliers en plateformes de collecte de données environnementales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E1E1E"/>
                </a:solidFill>
              </a:rPr>
              <a:t>• Approche frugale et participative — instruments accessibles, données partagées librement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E1E1E"/>
                </a:solidFill>
              </a:rPr>
              <a:t>• Grandeurs visées : qualité de l'air, paramètres de la colonne d'eau, rayonnement solaire</a:t>
            </a:r>
          </a:p>
        </p:txBody>
      </p:sp>
      <p:pic>
        <p:nvPicPr>
          <p:cNvPr id="7" name="Picture 6" descr="voilier_su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000" y="972000"/>
            <a:ext cx="4500000" cy="324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80000" y="4212000"/>
            <a:ext cx="4500000" cy="28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0" y="4230000"/>
            <a:ext cx="45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Expédition Sailowtech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1062000"/>
            <a:ext cx="125999" cy="30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97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A0"/>
                </a:solidFill>
              </a:rPr>
              <a:t>Données atmosphériques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2168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PM₁.₀ / PM₂.₅ / PM₁₀, irradiance, T°, pression, humidité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602000"/>
            <a:ext cx="125999" cy="306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51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820"/>
                </a:solidFill>
              </a:rPr>
              <a:t>Réseau du bateau (NMEA 2000)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7568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GPS, vitesse, cap, profondeur depuis l'ordinateur de bord (ex. Garmin)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2142000"/>
            <a:ext cx="125999" cy="30600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205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C50"/>
                </a:solidFill>
              </a:rPr>
              <a:t>Sonde CTD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2968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Température, conductivité, profondeur — RS-485 câblé ou Zigbee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2682000"/>
            <a:ext cx="125999" cy="30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259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</a:rPr>
              <a:t>Résistance marine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28368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Projections d'eau, corrosion saline, vibrations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3222000"/>
            <a:ext cx="125999" cy="30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313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A0"/>
                </a:solidFill>
              </a:rPr>
              <a:t>Autonomie énergétique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33768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Batterie 12 V avec régulation DC-DC embarquée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000" y="3762000"/>
            <a:ext cx="125999" cy="306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367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E1E"/>
                </a:solidFill>
              </a:rPr>
              <a:t>Vision par ordinateur (bonus)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39168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Détection automatique de la couverture nuageuse par CNN</a:t>
            </a:r>
          </a:p>
        </p:txBody>
      </p:sp>
      <p:pic>
        <p:nvPicPr>
          <p:cNvPr id="24" name="Picture 23" descr="station_assemblé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000" y="900000"/>
            <a:ext cx="4500000" cy="41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50000"/>
            <a:ext cx="12188952" cy="108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canique_boitier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540000"/>
            <a:ext cx="45720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540000"/>
            <a:ext cx="4572000" cy="475488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15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Design mécanique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12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96A0"/>
                </a:solidFill>
              </a:rPr>
              <a:t>Modularité  ·  Exploration des designs  ·  Abri de Stevenson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Design mécanique — Principe de modularité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" y="954000"/>
            <a:ext cx="6660000" cy="46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99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4A820"/>
                </a:solidFill>
              </a:rPr>
              <a:t>Principe fondateur : aucune pièce n'est fixée définitivement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512000"/>
            <a:ext cx="666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700">
                <a:solidFill>
                  <a:srgbClr val="1E1E1E"/>
                </a:solidFill>
              </a:rPr>
              <a:t>• Vis, entretoises et clips permettent la modification sans outil spécial</a:t>
            </a:r>
          </a:p>
          <a:p>
            <a:pPr>
              <a:spcBef>
                <a:spcPts val="700"/>
              </a:spcBef>
            </a:pPr>
            <a:r>
              <a:rPr sz="1700">
                <a:solidFill>
                  <a:srgbClr val="1E1E1E"/>
                </a:solidFill>
              </a:rPr>
              <a:t>• Hauteur augmentable pour accueillir capteurs supplémentaires ou batteries</a:t>
            </a:r>
          </a:p>
          <a:p>
            <a:pPr>
              <a:spcBef>
                <a:spcPts val="700"/>
              </a:spcBef>
            </a:pPr>
            <a:r>
              <a:rPr sz="1700">
                <a:solidFill>
                  <a:srgbClr val="1E1E1E"/>
                </a:solidFill>
              </a:rPr>
              <a:t>• Chaque étage PCB est démontable indépendamment — maintenance facilitée</a:t>
            </a:r>
          </a:p>
          <a:p>
            <a:pPr>
              <a:spcBef>
                <a:spcPts val="700"/>
              </a:spcBef>
            </a:pPr>
            <a:r>
              <a:rPr sz="1700">
                <a:solidFill>
                  <a:srgbClr val="1E1E1E"/>
                </a:solidFill>
              </a:rPr>
              <a:t>• PCB circulaires : optimisation de l'espace dans le boîtier cylindrique</a:t>
            </a:r>
          </a:p>
          <a:p>
            <a:pPr>
              <a:spcBef>
                <a:spcPts val="700"/>
              </a:spcBef>
            </a:pPr>
            <a:r>
              <a:rPr sz="1700">
                <a:solidFill>
                  <a:srgbClr val="1E1E1E"/>
                </a:solidFill>
              </a:rPr>
              <a:t>• Connecteurs inter-étages positionnés pour minimiser la longueur des câbles</a:t>
            </a:r>
          </a:p>
          <a:p>
            <a:pPr>
              <a:spcBef>
                <a:spcPts val="700"/>
              </a:spcBef>
            </a:pPr>
            <a:r>
              <a:rPr sz="1700">
                <a:solidFill>
                  <a:srgbClr val="1E1E1E"/>
                </a:solidFill>
              </a:rPr>
              <a:t>• Prototypes intérieurs validés par découpe laser sur MDF avant commande des PCB</a:t>
            </a:r>
          </a:p>
        </p:txBody>
      </p:sp>
      <p:pic>
        <p:nvPicPr>
          <p:cNvPr id="9" name="Picture 8" descr="mecanique_interieur_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000" y="936000"/>
            <a:ext cx="4500000" cy="1980000"/>
          </a:xfrm>
          <a:prstGeom prst="rect">
            <a:avLst/>
          </a:prstGeom>
        </p:spPr>
      </p:pic>
      <p:pic>
        <p:nvPicPr>
          <p:cNvPr id="10" name="Picture 9" descr="mecanique_interieur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3024000"/>
            <a:ext cx="4500000" cy="190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Boîtier extérieur — Exploration des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972000"/>
            <a:ext cx="3851999" cy="432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1007999"/>
            <a:ext cx="4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1026000"/>
            <a:ext cx="30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Boîtier cylindrique fermé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1475999"/>
            <a:ext cx="3671999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Design initial hérité des projets précédents.
Sans ventilation active : renouvellement d'air insuffisant.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7999" y="972000"/>
            <a:ext cx="3851999" cy="432000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5999" y="1007999"/>
            <a:ext cx="4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999" y="1026000"/>
            <a:ext cx="30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Membranes Gore-Tex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5999" y="1475999"/>
            <a:ext cx="3671999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L'air passe sans que l'eau ne pénètre.
Mais la résistance à l'écoulement est trop élevée :
ventilation passive insuffisante.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9998" y="972000"/>
            <a:ext cx="3851999" cy="43200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7998" y="1007999"/>
            <a:ext cx="4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7998" y="1026000"/>
            <a:ext cx="30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Abri de Stevenson cylindrique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7998" y="1475999"/>
            <a:ext cx="3671999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Différentes longueurs et inclinaisons testées par
impression 3D. Design final : meilleur compromis
entre protection et aération.</a:t>
            </a:r>
          </a:p>
        </p:txBody>
      </p:sp>
      <p:pic>
        <p:nvPicPr>
          <p:cNvPr id="18" name="Picture 17" descr="mecanique_boitier_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2592000"/>
            <a:ext cx="3851999" cy="2304000"/>
          </a:xfrm>
          <a:prstGeom prst="rect">
            <a:avLst/>
          </a:prstGeom>
        </p:spPr>
      </p:pic>
      <p:pic>
        <p:nvPicPr>
          <p:cNvPr id="19" name="Picture 18" descr="mecanique_stevenson_anne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000" y="2592000"/>
            <a:ext cx="3851999" cy="2304000"/>
          </a:xfrm>
          <a:prstGeom prst="rect">
            <a:avLst/>
          </a:prstGeom>
        </p:spPr>
      </p:pic>
      <p:pic>
        <p:nvPicPr>
          <p:cNvPr id="20" name="Picture 19" descr="mecanique_boitier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000" y="2592000"/>
            <a:ext cx="3851999" cy="230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Station assemblée et validée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1115999"/>
            <a:ext cx="144000" cy="324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007999"/>
            <a:ext cx="684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6A0"/>
                </a:solidFill>
              </a:rPr>
              <a:t>Entièrement blanche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277999"/>
            <a:ext cx="68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6E7D"/>
                </a:solidFill>
              </a:rPr>
              <a:t>Limite l'absorption solaire et maintient la T° interne proche de l'ambiante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799999"/>
            <a:ext cx="144000" cy="324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691999"/>
            <a:ext cx="684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820"/>
                </a:solidFill>
              </a:rPr>
              <a:t>Plexiglas réduit au strict minimum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961999"/>
            <a:ext cx="68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6E7D"/>
                </a:solidFill>
              </a:rPr>
              <a:t>Seule la fenêtre caméra est transparente — effet de serre maîtrisé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2483999"/>
            <a:ext cx="144000" cy="32400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2375999"/>
            <a:ext cx="684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C50"/>
                </a:solidFill>
              </a:rPr>
              <a:t>Tests d'étanchéité et de résistance réalisés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645999"/>
            <a:ext cx="68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6E7D"/>
                </a:solidFill>
              </a:rPr>
              <a:t>Aspersions d'eau et chocs simulés : assemblage et joints validés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3167999"/>
            <a:ext cx="144000" cy="324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3059999"/>
            <a:ext cx="684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</a:rPr>
              <a:t>Validé en conditions réelles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3329999"/>
            <a:ext cx="68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6E7D"/>
                </a:solidFill>
              </a:rPr>
              <a:t>Design polyvalent, conçu pour toutes les conditions non extrêmes</a:t>
            </a:r>
          </a:p>
        </p:txBody>
      </p:sp>
      <p:pic>
        <p:nvPicPr>
          <p:cNvPr id="18" name="Picture 17" descr="station_assemblé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900000"/>
            <a:ext cx="4428000" cy="41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50000"/>
            <a:ext cx="12188952" cy="108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cb1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540000"/>
            <a:ext cx="45720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540000"/>
            <a:ext cx="4572000" cy="475488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15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Conception électronique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12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96A0"/>
                </a:solidFill>
              </a:rPr>
              <a:t>Architecture  ·  PCB étage 1  ·  PCB étage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de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972000"/>
            <a:ext cx="3240000" cy="48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044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NMEA 2000 (CAN Bus)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0" y="1044000"/>
            <a:ext cx="41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Réseau du bateau — GPS, vitesse, cap depuis l'ordinateur de bord (ex. Garmin)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548000"/>
            <a:ext cx="3240000" cy="486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1620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RS-485 / RS-232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1620000"/>
            <a:ext cx="41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Sonde CTD câblée — communication continue et en temps réel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2124000"/>
            <a:ext cx="3240000" cy="48600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" y="2196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Zigbee (XIAO ESP32C6)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0" y="2196000"/>
            <a:ext cx="41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Sonde CTD sans câble — échange de paramètres avant immersion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2700000"/>
            <a:ext cx="3240000" cy="4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2772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Wi-Fi (ESP32)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0" y="2772000"/>
            <a:ext cx="41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Transmission vers l'ordinateur portable à bord — visualisation temps réel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3276000"/>
            <a:ext cx="3240000" cy="486000"/>
          </a:xfrm>
          <a:prstGeom prst="rect">
            <a:avLst/>
          </a:prstGeom>
          <a:solidFill>
            <a:srgbClr val="78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00" y="3348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SPI / I²C / UART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0" y="3348000"/>
            <a:ext cx="41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Communication interne entre microcontrôleur et capteurs / modules</a:t>
            </a:r>
          </a:p>
        </p:txBody>
      </p:sp>
      <p:pic>
        <p:nvPicPr>
          <p:cNvPr id="21" name="Picture 20" descr="protocole_co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0" y="900000"/>
            <a:ext cx="3960000" cy="39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PCB étage 1 — Contrôle et connectivité  (situé en bas de la station)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1080000"/>
            <a:ext cx="90000" cy="21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72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ESP32 DevKit M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206000"/>
            <a:ext cx="63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E7D"/>
                </a:solidFill>
              </a:rPr>
              <a:t>Microcontrôleur principal — Wi-Fi, BT, 240 MHz, 2 cœurs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548000"/>
            <a:ext cx="90000" cy="21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440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XIAO ESP32C6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674000"/>
            <a:ext cx="63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E7D"/>
                </a:solidFill>
              </a:rPr>
              <a:t>Module Zigbee — échange avec la sonde CTD sans câble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2016000"/>
            <a:ext cx="90000" cy="21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1908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MCP2515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142000"/>
            <a:ext cx="63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E7D"/>
                </a:solidFill>
              </a:rPr>
              <a:t>Transceiver CAN — interface NMEA 2000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2484000"/>
            <a:ext cx="90000" cy="21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2376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Adafruit GPS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610000"/>
            <a:ext cx="63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E7D"/>
                </a:solidFill>
              </a:rPr>
              <a:t>Horodatage et position géographique de chaque mesure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2952000"/>
            <a:ext cx="90000" cy="21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844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Adafruit micro 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078000"/>
            <a:ext cx="63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E7D"/>
                </a:solidFill>
              </a:rPr>
              <a:t>Enregistrement local des données en 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000" y="3420000"/>
            <a:ext cx="90000" cy="21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3312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LM2596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546000"/>
            <a:ext cx="63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E7D"/>
                </a:solidFill>
              </a:rPr>
              <a:t>Régulateur buck 12 V → 5 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0000" y="3888000"/>
            <a:ext cx="90000" cy="21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3780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Ports CTD &amp; NMEA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4014000"/>
            <a:ext cx="63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E7D"/>
                </a:solidFill>
              </a:rPr>
              <a:t>Installés sur le PCB — perçages à réaliser lors des tests terrain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0000" y="4356000"/>
            <a:ext cx="90000" cy="216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4248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E4A"/>
                </a:solidFill>
              </a:rPr>
              <a:t>Ports supp.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482000"/>
            <a:ext cx="6300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E7D"/>
                </a:solidFill>
              </a:rPr>
              <a:t>Réservés pour l'ajout de capteurs futurs (modularité)</a:t>
            </a:r>
          </a:p>
        </p:txBody>
      </p:sp>
      <p:pic>
        <p:nvPicPr>
          <p:cNvPr id="30" name="Picture 29" descr="pcb1_rou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972000"/>
            <a:ext cx="2340000" cy="2160000"/>
          </a:xfrm>
          <a:prstGeom prst="rect">
            <a:avLst/>
          </a:prstGeom>
        </p:spPr>
      </p:pic>
      <p:pic>
        <p:nvPicPr>
          <p:cNvPr id="31" name="Picture 30" descr="pcb1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00" y="972000"/>
            <a:ext cx="2268000" cy="2160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80000" y="6354001"/>
            <a:ext cx="6840000" cy="413999"/>
          </a:xfrm>
          <a:prstGeom prst="rect">
            <a:avLst/>
          </a:prstGeom>
          <a:solidFill>
            <a:srgbClr val="E4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00" y="6372000"/>
            <a:ext cx="666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6E7D"/>
                </a:solidFill>
              </a:rPr>
              <a:t>Les connexions CTD et NMEA sont installées sur le PCB. Les perçages dans le boîtier mécanique seront réalisés lors de la validation avec un ordinateur de bord.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PCB étage 2 — Capteurs  (exposé à l'air ambiant)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1080000"/>
            <a:ext cx="90000" cy="251999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72000"/>
            <a:ext cx="64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SPS30 (Sensirion)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24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PM₁.₀ / PM₂.₅ / PM₄ / PM₁₀ — diffraction laser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620000"/>
            <a:ext cx="90000" cy="251999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512000"/>
            <a:ext cx="64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BME280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8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Température ±1 °C, Pression ±1 hPa, Humidité ±3 %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2160000"/>
            <a:ext cx="90000" cy="251999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052000"/>
            <a:ext cx="64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BH1750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32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Éclairement lumineux en lux — indicateur d'irradiance solaire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2700000"/>
            <a:ext cx="90000" cy="251999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2592000"/>
            <a:ext cx="64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MPU-6050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86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IMU 6 axes — correction tangage / roulis pour l'irradiance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3240000"/>
            <a:ext cx="90000" cy="251999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3132000"/>
            <a:ext cx="64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Joy-it ESP32 camera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40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Images zénithales — alimentation de l'algorithme de vision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000" y="3780000"/>
            <a:ext cx="90000" cy="251999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3672000"/>
            <a:ext cx="64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</a:rPr>
              <a:t>Ports supplémentaires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942000"/>
            <a:ext cx="648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6E7D"/>
                </a:solidFill>
              </a:rPr>
              <a:t>Réservés pour l'ajout de capteurs futurs (modularité)</a:t>
            </a:r>
          </a:p>
        </p:txBody>
      </p:sp>
      <p:pic>
        <p:nvPicPr>
          <p:cNvPr id="24" name="Picture 23" descr="pcb2_rou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972000"/>
            <a:ext cx="2340000" cy="2160000"/>
          </a:xfrm>
          <a:prstGeom prst="rect">
            <a:avLst/>
          </a:prstGeom>
        </p:spPr>
      </p:pic>
      <p:pic>
        <p:nvPicPr>
          <p:cNvPr id="25" name="Picture 24" descr="pcb2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00" y="972000"/>
            <a:ext cx="2268000" cy="2160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80000" y="6354001"/>
            <a:ext cx="6840000" cy="413999"/>
          </a:xfrm>
          <a:prstGeom prst="rect">
            <a:avLst/>
          </a:prstGeom>
          <a:solidFill>
            <a:srgbClr val="E4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00" y="6372000"/>
            <a:ext cx="666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6E7D"/>
                </a:solidFill>
              </a:rPr>
              <a:t>Cet étage est positionné dans la zone ventilée du boîtier (abri de Stevenson) pour éviter tout biais thermique sur les mesures atmosphériques.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50000"/>
            <a:ext cx="12188952" cy="108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ion_c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540000"/>
            <a:ext cx="45720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540000"/>
            <a:ext cx="4572000" cy="475488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152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Vision par ordinateur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12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96A0"/>
                </a:solidFill>
              </a:rPr>
              <a:t>Segmentation sémantique  ·  U-Net  ·  Couverture nuageuse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Détection automatique de la couverture nuageuse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972000"/>
            <a:ext cx="1872000" cy="4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000" y="1051200"/>
            <a:ext cx="176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Tâche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000" y="1051200"/>
            <a:ext cx="486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Segmentation sémantique binaire pixel par pixel — nuage (1) / ciel (0)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548000"/>
            <a:ext cx="1872000" cy="4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00" y="1627200"/>
            <a:ext cx="176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2000" y="1627200"/>
            <a:ext cx="486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U-Net  +  encodeur ResNet-34 pré-entraîné sur ImageNet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2124000"/>
            <a:ext cx="1872000" cy="4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00" y="2203200"/>
            <a:ext cx="176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2000" y="2203200"/>
            <a:ext cx="486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SWIMSEG — 861 images d'entraînement · 101 validation · 51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" y="2700000"/>
            <a:ext cx="1872000" cy="4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000" y="2779200"/>
            <a:ext cx="176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Optimiseur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2000" y="2779200"/>
            <a:ext cx="486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AdamW  lr=1e-4 · CosineAnnealingLR · 30 époques · batch size 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3276000"/>
            <a:ext cx="1872000" cy="486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4000" y="3355200"/>
            <a:ext cx="1764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Fonction de coût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2000" y="3355200"/>
            <a:ext cx="486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L = 0.5 × BCE  +  0.5 × Dice Loss</a:t>
            </a:r>
          </a:p>
        </p:txBody>
      </p:sp>
      <p:pic>
        <p:nvPicPr>
          <p:cNvPr id="21" name="Picture 20" descr="vision_c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000" y="936000"/>
            <a:ext cx="4500000" cy="2088000"/>
          </a:xfrm>
          <a:prstGeom prst="rect">
            <a:avLst/>
          </a:prstGeom>
        </p:spPr>
      </p:pic>
      <p:pic>
        <p:nvPicPr>
          <p:cNvPr id="22" name="Picture 21" descr="vision_masq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00" y="3131999"/>
            <a:ext cx="4500000" cy="2088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88000" y="3024000"/>
            <a:ext cx="4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E7D"/>
                </a:solidFill>
              </a:rPr>
              <a:t>Image brute du ciel                      Masque prédit (blanc = nuage)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88952" cy="5400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6000"/>
            <a:ext cx="12188952" cy="6012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8000"/>
            <a:ext cx="10800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Résultats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936000"/>
            <a:ext cx="5940000" cy="36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954000"/>
            <a:ext cx="576000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Électronique et firmware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50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✓  Tous les capteurs testés individuellement et en configuration complète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56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✓  Communication inter-PCB stable · SD fonctionnel · Wi-Fi opérationnel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962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✓  Firmware complet : acquisition, horodatage, stockage, transmission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" y="2340000"/>
            <a:ext cx="5940000" cy="360000"/>
          </a:xfrm>
          <a:prstGeom prst="rect">
            <a:avLst/>
          </a:prstGeom>
          <a:solidFill>
            <a:srgbClr val="00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2358000"/>
            <a:ext cx="576000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Validation mécanique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754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✓  Étanchéité validée — aspersions d'eau et joints testés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060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✓  Résistance mécanique confirmée (chocs simulés)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3366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✓  Tests en conditions réelles effectués — design approuvé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0000" y="936000"/>
            <a:ext cx="5400000" cy="360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8000" y="954000"/>
            <a:ext cx="522000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Vision par ordinateur — SWIMSEG (51 images 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0000" y="1332000"/>
            <a:ext cx="3420000" cy="316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80000" y="1332000"/>
            <a:ext cx="1980000" cy="3168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8000" y="13572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Métrique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6000" y="1357200"/>
            <a:ext cx="18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Valeur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0000" y="1674000"/>
            <a:ext cx="3420000" cy="3168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80000" y="1674000"/>
            <a:ext cx="1980000" cy="3168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8000" y="16992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IoU moyen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6000" y="1699200"/>
            <a:ext cx="18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96A0"/>
                </a:solidFill>
              </a:rPr>
              <a:t>0.888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60000" y="2016000"/>
            <a:ext cx="3420000" cy="31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80000" y="2016000"/>
            <a:ext cx="1980000" cy="31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8000" y="20412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Dice moyen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16000" y="2041200"/>
            <a:ext cx="18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96A0"/>
                </a:solidFill>
              </a:rPr>
              <a:t>0.938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0000" y="2358000"/>
            <a:ext cx="3420000" cy="3168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80000" y="2358000"/>
            <a:ext cx="1980000" cy="3168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8000" y="23832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F1 moyen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6000" y="2383200"/>
            <a:ext cx="18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96A0"/>
                </a:solidFill>
              </a:rPr>
              <a:t>0.935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0000" y="2736000"/>
            <a:ext cx="5400000" cy="468000"/>
          </a:xfrm>
          <a:prstGeom prst="rect">
            <a:avLst/>
          </a:prstGeom>
          <a:solidFill>
            <a:srgbClr val="00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8000" y="2772000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F1 = 0.935 en moyenne
Minimum 0.815 sur images difficiles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50000"/>
            <a:ext cx="12188952" cy="10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251999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et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864000"/>
            <a:ext cx="4680000" cy="432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954000"/>
            <a:ext cx="5220000" cy="360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972000"/>
            <a:ext cx="504000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Ce qui a été réalisé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386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Version fonctionnelle conçue, assemblée et testée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728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Deux PCB routés, soudés et validés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070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Firmware complet : acquisition, SD, Wi-Fi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412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Design mécanique modulaire validé en conditions réelles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754000"/>
            <a:ext cx="48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Algorithme de vision  (F1 = 0.935) opérationnel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954000"/>
            <a:ext cx="5580000" cy="360000"/>
          </a:xfrm>
          <a:prstGeom prst="rect">
            <a:avLst/>
          </a:prstGeom>
          <a:solidFill>
            <a:srgbClr val="F4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972000"/>
            <a:ext cx="540000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</a:rPr>
              <a:t>Prochaines étapes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000" y="1386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</a:rPr>
              <a:t>→  Intégration NMEA 2000 et CTD lors d'une sortie Sailowtech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8000" y="1818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</a:rPr>
              <a:t>→  Quantifier l'effet de serre résiduel sous le plexiglas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2250000"/>
            <a:ext cx="54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CF0"/>
                </a:solidFill>
              </a:rPr>
              <a:t>→  Améliorer l'algorithme de vision (ciel uniforme, contre-jour)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5922000"/>
            <a:ext cx="11268000" cy="756000"/>
          </a:xfrm>
          <a:prstGeom prst="rect">
            <a:avLst/>
          </a:prstGeom>
          <a:solidFill>
            <a:srgbClr val="0E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5958000"/>
            <a:ext cx="10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6A0"/>
                </a:solidFill>
              </a:rPr>
              <a:t>Station compacte, modulaire, low-tech et open-source —
prête à rejoindre les expéditions Sailowtech.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